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8C8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Angry</c:v>
                  </c:pt>
                  <c:pt idx="1">
                    <c:v>Disgusted</c:v>
                  </c:pt>
                  <c:pt idx="2">
                    <c:v>Happy</c:v>
                  </c:pt>
                  <c:pt idx="3">
                    <c:v>Normal</c:v>
                  </c:pt>
                  <c:pt idx="4">
                    <c:v>Sad</c:v>
                  </c:pt>
                  <c:pt idx="5">
                    <c:v>Scared</c:v>
                  </c:pt>
                  <c:pt idx="6">
                    <c:v>Surprised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</c:v>
                </c:pt>
                <c:pt idx="1">
                  <c:v>79</c:v>
                </c:pt>
                <c:pt idx="2">
                  <c:v>98</c:v>
                </c:pt>
                <c:pt idx="3">
                  <c:v>98</c:v>
                </c:pt>
                <c:pt idx="4">
                  <c:v>98</c:v>
                </c:pt>
                <c:pt idx="5">
                  <c:v>99</c:v>
                </c:pt>
                <c:pt idx="6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8E44AD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bubble3D val="0"/>
            <c:spPr>
              <a:solidFill>
                <a:srgbClr val="2980B9"/>
              </a:solidFill>
              <a:effectLst/>
            </c:spPr>
          </c:dPt>
          <c:dPt>
            <c:idx val="4"/>
            <c:bubble3D val="0"/>
            <c:spPr>
              <a:solidFill>
                <a:srgbClr val="7F8C8D"/>
              </a:solidFill>
              <a:effectLst/>
            </c:spPr>
          </c:dPt>
          <c:dPt>
            <c:idx val="5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Angry</c:v>
                </c:pt>
                <c:pt idx="1">
                  <c:v>Disgusted</c:v>
                </c:pt>
                <c:pt idx="2">
                  <c:v>Happy</c:v>
                </c:pt>
                <c:pt idx="3">
                  <c:v>Normal</c:v>
                </c:pt>
                <c:pt idx="4">
                  <c:v>Sad</c:v>
                </c:pt>
                <c:pt idx="5">
                  <c:v>Scared</c:v>
                </c:pt>
                <c:pt idx="6">
                  <c:v>Surprised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99</c:v>
                </c:pt>
                <c:pt idx="1">
                  <c:v>79</c:v>
                </c:pt>
                <c:pt idx="2">
                  <c:v>98</c:v>
                </c:pt>
                <c:pt idx="3">
                  <c:v>98</c:v>
                </c:pt>
                <c:pt idx="4">
                  <c:v>98</c:v>
                </c:pt>
                <c:pt idx="5">
                  <c:v>99</c:v>
                </c:pt>
                <c:pt idx="6">
                  <c:v>100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RF+HOG</c:v>
                  </c:pt>
                  <c:pt idx="1">
                    <c:v>CNN scratch</c:v>
                  </c:pt>
                  <c:pt idx="2">
                    <c:v>MobileNetV2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48.9</c:v>
                </c:pt>
                <c:pt idx="1">
                  <c:v>60.1</c:v>
                </c:pt>
                <c:pt idx="2">
                  <c:v>73.1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RF+HOG</c:v>
                  </c:pt>
                  <c:pt idx="1">
                    <c:v>CNN scratch</c:v>
                  </c:pt>
                  <c:pt idx="2">
                    <c:v>MobileNetV2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46.7</c:v>
                </c:pt>
                <c:pt idx="1">
                  <c:v>57.8</c:v>
                </c:pt>
                <c:pt idx="2">
                  <c:v>71.2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Classificateur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d'Émotions Félines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— Machine Learning de bout en bout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émotions des chats par deep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74320"/>
            <a:ext cx="2651760" cy="512064"/>
          </a:xfrm>
          <a:prstGeom prst="rect">
            <a:avLst>
              <a:gd name="adj" fmla="val 1428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743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932688"/>
            <a:ext cx="2651760" cy="512064"/>
          </a:xfrm>
          <a:prstGeom prst="rect">
            <a:avLst>
              <a:gd name="adj" fmla="val 1428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9326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Disgusted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591056"/>
            <a:ext cx="2651760" cy="512064"/>
          </a:xfrm>
          <a:prstGeom prst="rect">
            <a:avLst>
              <a:gd name="adj" fmla="val 1428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9105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249424"/>
            <a:ext cx="2651760" cy="512064"/>
          </a:xfrm>
          <a:prstGeom prst="rect">
            <a:avLst>
              <a:gd name="adj" fmla="val 14286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4942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2907792"/>
            <a:ext cx="2651760" cy="512064"/>
          </a:xfrm>
          <a:prstGeom prst="rect">
            <a:avLst>
              <a:gd name="adj" fmla="val 14286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9077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566160"/>
            <a:ext cx="2651760" cy="512064"/>
          </a:xfrm>
          <a:prstGeom prst="rect">
            <a:avLst>
              <a:gd name="adj" fmla="val 1428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5661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Scared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4224528"/>
            <a:ext cx="2651760" cy="512064"/>
          </a:xfrm>
          <a:prstGeom prst="rect">
            <a:avLst>
              <a:gd name="adj" fmla="val 14286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2245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Surprised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4480560"/>
            <a:ext cx="5943600" cy="658368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26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Projet Data · Évaluation 2026  |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Dataset : Cat Emotions (Roboflow, 671 images, CC BY 4.0)  |  </a:t>
            </a:r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Modèle : MobileNetV2 Transfer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détecter les émotions des chats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77824"/>
            <a:ext cx="8814816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77824"/>
            <a:ext cx="85953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Développer un classificateur d'émotions félines à partir d'images pour aider propriétaires et vétérinaires à détecter le bien-être et le stress des chats lors des interactions humaines.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828800"/>
            <a:ext cx="210312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Propriétaire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54203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précocement le stress ou la douleur de l'animal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210312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Vétérinaire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41448" y="254203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au diagnostic comportemental en consultation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0288" y="1828800"/>
            <a:ext cx="210312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90288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90288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Refuge / Shelter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54296" y="254203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automatisé du bien-être en cage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03136" y="1828800"/>
            <a:ext cx="210312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Industrie PetTech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67144" y="2542032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caméras et colliers connectés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3310128"/>
            <a:ext cx="28346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4592" y="3346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671M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37744" y="378561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domestiques dans le monde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 2023)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3310128"/>
            <a:ext cx="28346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08960" y="3346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1/3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182112" y="378561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chats présente des signes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non détectés (Bristol 2022)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3328" y="3310128"/>
            <a:ext cx="28346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53328" y="3346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5,8 Mds$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126480" y="378561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PetTech 2025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+18%/an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" y="4343400"/>
            <a:ext cx="8814816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3708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</a:t>
            </a:r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emotion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Classification multi-classes à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modalités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Dataset — Cat Emotions (Roboflow)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292608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23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Roboflow Universe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252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: CC BY 4.0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Exporté le 18 novembre 2023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9110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dossiers train/ + valid/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886968"/>
            <a:ext cx="5779008" cy="1463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9144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Informations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225296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 : JPEG, résolutions variables (majoritairement 640×640 px)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545336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Noms de fichiers : hash Roboflow horodaté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865376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test set fourni → re-split effectué dans le pipeline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450592"/>
          <a:ext cx="8814816" cy="2578608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41908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Classe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Images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Signal visuel clé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Oreilles aplaties, pupilles dilatées, moustaches tendues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Lèvres retroussées, regard baissé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Yeux mi-clos, oreilles dressées, posture détendue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 neutre, regard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Regard vers le bas, yeux à demi fermés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Oreilles aplaties, yeux grand ouverts, pupilles maximales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Yeux écarquillés, oreilles dressées vers l'avant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671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Prétraitement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0"/>
            <a:ext cx="1645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7772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" y="150876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images corrompues (vérification PIL)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572768"/>
            <a:ext cx="9144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914400"/>
            <a:ext cx="1645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7772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84248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Re-split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stratifié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4248" y="150876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 / 15%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par classe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02736" y="1572768"/>
            <a:ext cx="9144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914400"/>
            <a:ext cx="1645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06824" y="7772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58184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128×128 px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58184" y="150876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résolution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(compromis qualité / vitesse)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76672" y="1572768"/>
            <a:ext cx="9144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914400"/>
            <a:ext cx="1645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7772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150876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÷255 (CNN)  |  preprocess_input [-1,+1] (MobileNetV2)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50608" y="1572768"/>
            <a:ext cx="9144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0336" y="914400"/>
            <a:ext cx="1645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54696" y="7772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54696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06056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06056" y="150876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H · Rotation ±15° · Zoom ±10% · Brightness ±20%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64592" y="2487168"/>
            <a:ext cx="8814816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4871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 du re-split stratifié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834640"/>
          <a:ext cx="8814816" cy="109728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6620256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Split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Images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Usage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 des modèles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Sélection hyperparamètres / early stopping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Évaluation finale — jamais vu pendant l'entraînement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164592" y="4023360"/>
            <a:ext cx="210312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219456" y="40507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128×128 px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19456" y="4297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suffisante pour les features faciales, compatible GPU/CPU grand public.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377440" y="4023360"/>
            <a:ext cx="210312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432304" y="40507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augmentation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2432304" y="4297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l'overfitting sur un dataset de seulement 671 images.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90288" y="4023360"/>
            <a:ext cx="210312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645152" y="40507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Stratification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645152" y="4297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la représentativité de chaque classe dans les 3 splits.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803136" y="4023360"/>
            <a:ext cx="210312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858000" y="40507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Re-split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6858000" y="42976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ne fournit pas de test set indépendant.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Distribution des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64592" y="868680"/>
          <a:ext cx="5394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69280" y="868680"/>
          <a:ext cx="32918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164592" y="3547872"/>
            <a:ext cx="8814816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3547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28600" y="3858768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modéré : ratio max/min = 1.27× (Surprised 100 imgs vs Disgusted 79 imgs) — aucune classe &lt; 50 images.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: class_weight='balanced' pour Random Forest. Métrique principale : F1-macro (robuste au déséquilibre).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L'accuracy seule serait trompeuse sur un dataset déséquilibré.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164592" y="4480560"/>
            <a:ext cx="8814816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032" y="4507992"/>
            <a:ext cx="8631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Disgusted » est la classe la moins représentée (79 images) et celle avec le F1-score le plus faible en production (0.63). La corrélation volume ↔ performance confirme le besoin de données supplémentaires.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Qualité des données et biais identifiés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411480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 de pixels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207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Luminosité moyenne : variable (écart ~30 niveaux entre classes)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1417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Résolutions : min 100×100px · max 1280×720px · médiane ~640×640px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627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 couleur : RGB pour toutes les images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1837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Images corrompues détectées : 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886968"/>
            <a:ext cx="4590288" cy="118872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91440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Confirmation par Grad-CAM (slide 11)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1207008"/>
            <a:ext cx="4407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heatmaps Grad-CAM permettront de vérifier si le modèle regarde bien les oreilles/yeux ou s'il exploite des artefacts de fond — validant ou infirmant les biais identifiés ci-dessous.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14816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1762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Biais identifiés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514600"/>
          <a:ext cx="8814816" cy="246888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96265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 de biais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 potentiel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de fond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Certaines classes sur-représentées avec fond blanc (cabinet vétérinaire)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 apprend le contexte, pas l'émotion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de race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Sur-représentation des races européennes courantes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Mauvaise généralisation sur chats orientaux, Maine Coon, Sphynx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d'éclairage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studio vs photos naturelles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shift lors de l'inférence sur caméra domestique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de cadrage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Certaines images incluent le corps, d'autres uniquement la tête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Incohérence des features disponibles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 d'annotation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Subjectivité humaine sur émotions ambiguës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bruités sur Scared/Angry et Normal/Disgusted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Baseline — Random Forest + HOG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8814816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905256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baseline ?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les réseaux de neurones, on établit un plancher de performance non-neuronal. S'il est difficile à dépasser, cela remettrait en question la nécessité du deep learning.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0"/>
            <a:ext cx="502920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HOG — Histogram of Oriented Gradients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Descripteur classique de vision par ordinateur (Dalal &amp; Triggs, 2005)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2267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contours et gradients locaux → pertinent pour les expressions faciales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032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Params : 9 orientations · cellules 8×8px · blocs 2×2 · normalisation L2-Hys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Images 64×64 px en niveaux de gris avant extraction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145536"/>
            <a:ext cx="484632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1455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1 764 features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par image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21808" y="1645920"/>
            <a:ext cx="3657600" cy="224028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13248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3248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 3-fold · scoring=f1_macro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13248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class_weight='balanced'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13248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n_estimators=200 · max_depth=None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min_samples_split=2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13248" y="3145536"/>
            <a:ext cx="3474720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31455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par GridSearchCV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3904488"/>
            <a:ext cx="8814816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904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sur test set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197096"/>
          <a:ext cx="8814816" cy="86868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534009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Métrique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Valeur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Interprétation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48.9%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Significativement au-dessus du hasard (1/7 = 14.3%)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46.7%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 F1 ≈ 0.55 · Disgusted F1 ≈ 0.38 (classe la plus difficile)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1 — CNN from scratch (Keras Sequential)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47548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0312" y="886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128×128×3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1344168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417320"/>
            <a:ext cx="4754880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Augmentation (Flip · Rotation · Zoom · Brightness)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187452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947672"/>
            <a:ext cx="475488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" y="1947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1 : Conv2D(32) → BN → ReLU ×2 → MaxPool [64×64]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2404872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2478024"/>
            <a:ext cx="4754880" cy="457200"/>
          </a:xfrm>
          <a:prstGeom prst="rect">
            <a:avLst/>
          </a:prstGeom>
          <a:solidFill>
            <a:srgbClr val="5558E8"/>
          </a:solidFill>
          <a:ln w="12700">
            <a:solidFill>
              <a:srgbClr val="555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" y="24780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2 : Conv2D(64) → BN → ReLU ×2 → MaxPool [32×32]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0592" y="2935224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3008376"/>
            <a:ext cx="4754880" cy="457200"/>
          </a:xfrm>
          <a:prstGeom prst="rect">
            <a:avLst/>
          </a:prstGeom>
          <a:solidFill>
            <a:srgbClr val="4549D4"/>
          </a:solidFill>
          <a:ln w="12700">
            <a:solidFill>
              <a:srgbClr val="4549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" y="30083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3 : Conv2D(128) → BN → ReLU ×2 → MaxPool [16×16]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0592" y="3465576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3538728"/>
            <a:ext cx="4754880" cy="457200"/>
          </a:xfrm>
          <a:prstGeom prst="rect">
            <a:avLst/>
          </a:prstGeom>
          <a:solidFill>
            <a:srgbClr val="353AB8"/>
          </a:solidFill>
          <a:ln w="12700">
            <a:solidFill>
              <a:srgbClr val="353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35387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 4 : Conv2D(256) → BN → ReLU → GlobalAvgPool [256]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50592" y="3995928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4069080"/>
            <a:ext cx="475488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Dense(256, ReLU, L2) → Dropout(0.5) → Dense(7, Softmax)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4592" y="4645152"/>
            <a:ext cx="475488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4645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Paramètres totaux : ~2.1M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74920" y="886968"/>
            <a:ext cx="3904488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66360" y="90525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BatchNorm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115214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l'entraînement et accélère la convergence sur petit dataset.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1691640"/>
            <a:ext cx="3904488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66360" y="170992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GlobalAvgPool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1956816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fortement l'overfitting vs Flatten (65k neurones).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2496312"/>
            <a:ext cx="3904488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66360" y="251460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Dropout 0.5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761488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indispensable sur 671 images.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74920" y="3300984"/>
            <a:ext cx="3904488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33192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 intégrée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566160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uniquement en training, inactive en inférence (Keras).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74920" y="4114800"/>
            <a:ext cx="3904488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166360" y="414223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test set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4407408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</a:t>
            </a:r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60.1%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66360" y="4608576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: </a:t>
            </a:r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57.8%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66360" y="4809744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vs baseline RF : </a:t>
            </a:r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 pts F1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2 — Transfer Learning MobileNetV2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2011680" cy="1188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886968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1.4M images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 classes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03704" y="12344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77440" y="886968"/>
            <a:ext cx="2011680" cy="1188720"/>
          </a:xfrm>
          <a:prstGeom prst="rect">
            <a:avLst/>
          </a:prstGeom>
          <a:solidFill>
            <a:srgbClr val="4549D4"/>
          </a:solidFill>
          <a:ln w="12700">
            <a:solidFill>
              <a:srgbClr val="4549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886968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MobileNetV2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pré-entraîné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16552" y="12344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90288" y="886968"/>
            <a:ext cx="201168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886968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générales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bords · textures · formes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yeux · fourrure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12344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03136" y="886968"/>
            <a:ext cx="201168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886968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aux expressions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félines (671 imgs)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2176272"/>
            <a:ext cx="8814816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1762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MobileNetV2 ?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468880"/>
          <a:ext cx="8814816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2020824"/>
                <a:gridCol w="2020824"/>
                <a:gridCol w="2029968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Critère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MobileNetV2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VGG16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ResNet50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ImageNet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élevé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Adapté petit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164592" y="3858768"/>
            <a:ext cx="4023360" cy="11338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37744" y="38862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Feature Extraction  (LR = 1e-3, 15 épochs max)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37744" y="4151376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Backbone MobileNetV2 entièrement gelé (poids ImageNet conservés)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37744" y="4352544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Seule la tête de classification s'entraîne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37744" y="4553712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Objectif : mapper les features ImageNet → 7 émotions félines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37744" y="4754880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Résultat intermédiaire : accuracy val ~55-65%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70832" y="3858768"/>
            <a:ext cx="4023360" cy="11338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443984" y="38862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Fine-tuning  (LR=1e-5, 20 épochs)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443984" y="4151376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Dégel des 30 dernières couches du backbone (blocs 14-16)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443984" y="4352544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LR très faible (1e-5) pour ne pas écraser les poids pré-entraînés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443984" y="4553712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Adaptation fine des features haut-niveau aux expressions félines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443984" y="4754880"/>
            <a:ext cx="3877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Couches profondes (bas-niveau) restent gelées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229600" y="3858768"/>
            <a:ext cx="749808" cy="113385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0" y="3858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73.1%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442569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71.2%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Comparaison des Performances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886968"/>
          <a:ext cx="8814816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1572768"/>
                <a:gridCol w="157276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Modèle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Accuracy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F1-macro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Paramètres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Durée entraînement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HOG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from scratch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~2.1M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MobileNetV2 TL ★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73.1%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71.2%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164592" y="237744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21808" y="2377440"/>
          <a:ext cx="3657600" cy="2651760"/>
        </p:xfrm>
        <a:graphic>
          <a:graphicData uri="http://schemas.openxmlformats.org/drawingml/2006/table">
            <a:tbl>
              <a:tblPr/>
              <a:tblGrid>
                <a:gridCol w="1371600"/>
                <a:gridCol w="749808"/>
                <a:gridCol w="749808"/>
                <a:gridCol w="78638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Classe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RF+HOG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CNN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MobileNetV2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164592" y="4681728"/>
            <a:ext cx="881481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fréquente 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Scared ↔ Angry (18% de confused). Oreilles aplaties communes — seule la posture du corps (hors champ) permet la distinction.  </a:t>
            </a:r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MobileNetV2 retenu comme modèle de production (+24.5pts F1 vs baseline).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Explicabilité — Grad-CAM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8814816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905256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calcule le gradient du score de la classe prédite par rapport aux feature maps de la dernière couche convolutive (</a:t>
            </a:r>
            <a:pPr indent="0" marL="0">
              <a:buNone/>
            </a:pPr>
            <a:r>
              <a:rPr lang="en-US" sz="11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out_relu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MobileNetV2). Ces gradients révèlent quelles zones de l'image ont le plus influencé la décision.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8540496" cy="25603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53312"/>
            <a:ext cx="8540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 = ReLU( Σ_k  [gradient moyen filtre k]  ×  [activation filtre k] 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691640"/>
            <a:ext cx="41148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916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Signaux biologiques attendus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965960"/>
          <a:ext cx="4114800" cy="21488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Zone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Émotion associée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Oreilles aplaties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Angry, Scared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Oreilles dressées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Happy, Surprised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Yeux grands ouverts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Scared, Surprised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Yeux mi-clos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Happy, 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Moustaches tendues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Truffe / bouche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407408" y="1691640"/>
            <a:ext cx="45720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169164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observés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07408" y="1965960"/>
            <a:ext cx="45720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7408" y="1965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54880" y="1965960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concentrée sur les yeux mi-clos et la posture des oreilles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07408" y="2478024"/>
            <a:ext cx="45720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07408" y="24780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54880" y="247802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sur les oreilles aplaties et le bord des yeux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07408" y="2990088"/>
            <a:ext cx="45720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07408" y="2990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2990088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Scared 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sur les yeux écarquillés et les oreilles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407408" y="3502152"/>
            <a:ext cx="45720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07408" y="350215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3502152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images où l'attention porte sur le fond → biais de fond confirmé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64592" y="4206240"/>
            <a:ext cx="210312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37744" y="427024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7744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biologique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37744" y="44988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les bons signaux appris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377440" y="4206240"/>
            <a:ext cx="210312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50592" y="427024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50592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761488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de biais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450592" y="44988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Révèle fond vs visage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4206240"/>
            <a:ext cx="210312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63440" y="427024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974336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Confiance clinique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63440" y="44988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Vétérinaire peut vérifier la zone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803136" y="4206240"/>
            <a:ext cx="210312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876288" y="427024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76288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187184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Débogage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876288" y="44988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cadrage atypique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Web — Démo Streamlit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8814816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05256"/>
            <a:ext cx="8631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interactive (Streamlit), déployable localement en une commande. Rend le modèle accessible à des non-experts (propriétaires, vétérinaires) sans connaissance en ML.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4592" y="1536192"/>
            <a:ext cx="4297680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276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16459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Prédiction (page principale)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1938528"/>
            <a:ext cx="4114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ou sélection d'exemple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temps réel MobileNetV2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prédite + niveau de confiance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probabilités (7 classes)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comportemental adapté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si confiance &lt; 55%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en expandeur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5152" y="1536192"/>
            <a:ext cx="4297680" cy="1417320"/>
          </a:xfrm>
          <a:prstGeom prst="rect">
            <a:avLst/>
          </a:prstGeom>
          <a:solidFill>
            <a:srgbClr val="4549D4"/>
          </a:solidFill>
          <a:ln w="12700">
            <a:solidFill>
              <a:srgbClr val="4549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6276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49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57216" y="16459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938528"/>
            <a:ext cx="4114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: total images, classes, splits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Barplot train vs valid + pie chart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détaillé avec ratio déséquilibre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d'exemples filtrée par émotion (8 imgs)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3063240"/>
            <a:ext cx="4297680" cy="1417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1546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3172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des Modèles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" y="3465576"/>
            <a:ext cx="4114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des 3 modèles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accuracy/F1 par modèle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par classe (MobileNetV2)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Confusions fréquentes expliquées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des fichiers générés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3063240"/>
            <a:ext cx="4297680" cy="1417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31546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57216" y="3172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propos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3465576"/>
            <a:ext cx="4114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pipeline ML illustré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dataset info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" y="4572000"/>
            <a:ext cx="8814816" cy="47548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4590288"/>
            <a:ext cx="8631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train.py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Entraîne le modèle (~20 min)  |  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streamlit run app.py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Lance l'interface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37160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Limites, Biais et Pistes d'Amélioration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768096"/>
            <a:ext cx="87782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86968"/>
            <a:ext cx="28346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88696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 actuelles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1252728"/>
            <a:ext cx="283464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98448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 images : trop peu pour un CNN robuste (variance élevée entre runs)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128×128 : perte de détails fins (microexpressions, moustaches)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validation croisée : résultats sensibles au split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GPU pour entraînement rapide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non validé par des vétérinaires professionnels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45536" y="886968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88696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Biais identifiés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1252728"/>
            <a:ext cx="2834640" cy="3291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298448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fond (fond blanc vétérinaire sur-représenté)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race (faible diversité de races)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d'éclairage (studio vs naturel)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d'annotation (subjectivité humaine)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cadrage (tête seule vs corps entier)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886968"/>
            <a:ext cx="28346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88696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Pistes d'amélioration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252728"/>
            <a:ext cx="283464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98448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à ≥ 200 images/classe (671 → 1400+)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EfficientNetB0 / ViT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k-fold stratifiée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MobileNetV2 + CNN (vote/moyenne)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confiance adaptatif (&lt; 60% → Incertain)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clinique par vétérinaires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feedback continu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4626864"/>
            <a:ext cx="8814816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46451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671 à 2 000 images (+198%) permettrait un gain estimé de </a:t>
            </a:r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à +12 pts de F1-macro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(loi d'échelle empirique du deep learning sur petits datasets).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8796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" y="731520"/>
            <a:ext cx="8778240" cy="27432"/>
          </a:xfrm>
          <a:prstGeom prst="rect">
            <a:avLst/>
          </a:prstGeom>
          <a:solidFill>
            <a:srgbClr val="2D3D5C"/>
          </a:solidFill>
          <a:ln w="12700">
            <a:solidFill>
              <a:srgbClr val="2D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50392"/>
            <a:ext cx="8814816" cy="8595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868680"/>
            <a:ext cx="8631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« Oui, il est possible de classifier automatiquement les émotions félines avec une précision de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73% Accuracy / 71% F1-macro</a:t>
            </a:r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 via MobileNetV2 Transfer Learning — suffisant pour une </a:t>
            </a:r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aide à la décision</a:t>
            </a:r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, insuffisant pour un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diagnostic clinique autonome</a:t>
            </a:r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.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801368"/>
            <a:ext cx="2103120" cy="13898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0312" y="1856232"/>
            <a:ext cx="292608" cy="292608"/>
          </a:xfrm>
          <a:prstGeom prst="ellipse">
            <a:avLst/>
          </a:prstGeom>
          <a:solidFill>
            <a:srgbClr val="8B9FD4"/>
          </a:solidFill>
          <a:ln w="12700">
            <a:solidFill>
              <a:srgbClr val="8B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56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 = clé sur petit 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" y="2194560"/>
            <a:ext cx="1956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dépasse le CNN scratch de +13pts F1 grâce aux features ImageNet. Entraîner un CNN from scratch ne suffit pas sur 671 images.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1801368"/>
            <a:ext cx="2103120" cy="1389888"/>
          </a:xfrm>
          <a:prstGeom prst="rect">
            <a:avLst/>
          </a:prstGeom>
          <a:solidFill>
            <a:srgbClr val="4549D4"/>
          </a:solidFill>
          <a:ln w="12700">
            <a:solidFill>
              <a:srgbClr val="4549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856232"/>
            <a:ext cx="292608" cy="292608"/>
          </a:xfrm>
          <a:prstGeom prst="ellipse">
            <a:avLst/>
          </a:prstGeom>
          <a:solidFill>
            <a:srgbClr val="8B9FD4"/>
          </a:solidFill>
          <a:ln w="12700">
            <a:solidFill>
              <a:srgbClr val="8B9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61488" y="1856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F1-macro &gt; Accuracy comme métrique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0592" y="2194560"/>
            <a:ext cx="1956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déséquilibre (1.27×) justifie une métrique robuste par classe. L'accuracy surestimerait les performances.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90288" y="1801368"/>
            <a:ext cx="2103120" cy="138988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36008" y="1856232"/>
            <a:ext cx="292608" cy="292608"/>
          </a:xfrm>
          <a:prstGeom prst="ellipse">
            <a:avLst/>
          </a:prstGeom>
          <a:solidFill>
            <a:srgbClr val="8B9FD4"/>
          </a:solidFill>
          <a:ln w="12700">
            <a:solidFill>
              <a:srgbClr val="8B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74336" y="1856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Grad-CAM valide biologiquement le modèle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1956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zones d'attention correspondent aux signaux comportementaux réels (oreilles, yeux). Le modèle apprend (partiellement) la bonne chose.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03136" y="1801368"/>
            <a:ext cx="2103120" cy="13898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856232"/>
            <a:ext cx="292608" cy="292608"/>
          </a:xfrm>
          <a:prstGeom prst="ellipse">
            <a:avLst/>
          </a:prstGeom>
          <a:solidFill>
            <a:srgbClr val="8B9FD4"/>
          </a:solidFill>
          <a:ln w="12700">
            <a:solidFill>
              <a:srgbClr val="8B9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87184" y="1856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dataset est le facteur limitant principal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76288" y="2194560"/>
            <a:ext cx="1956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le meilleur modèle atteint un plafond avec 671 images. L'amélioration prioritaire est la collecte de données.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4592" y="3291840"/>
            <a:ext cx="8814816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2918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Recommandations finales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547872"/>
            <a:ext cx="7443216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3547872"/>
            <a:ext cx="1371600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547872"/>
            <a:ext cx="7260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Recommandation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07808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4592" y="3767328"/>
            <a:ext cx="744321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7808" y="3767328"/>
            <a:ext cx="13716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767328"/>
            <a:ext cx="7260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MobileNetV2 avec seuil de confiance ≥ 60%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07808" y="37673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Haute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4592" y="3950208"/>
            <a:ext cx="7443216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07808" y="3950208"/>
            <a:ext cx="13716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950208"/>
            <a:ext cx="7260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dataset à 200+ images/classe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07808" y="3950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Haute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64592" y="4133088"/>
            <a:ext cx="744321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07808" y="4133088"/>
            <a:ext cx="13716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4133088"/>
            <a:ext cx="7260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vétérinaires comportementalistes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607808" y="4133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Haute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4592" y="4315968"/>
            <a:ext cx="7443216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07808" y="4315968"/>
            <a:ext cx="13716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315968"/>
            <a:ext cx="7260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EfficientNetB0 / ViT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07808" y="4315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Moyenne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64592" y="4498848"/>
            <a:ext cx="744321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07808" y="4498848"/>
            <a:ext cx="13716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4498848"/>
            <a:ext cx="7260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pipeline de feedback continu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607808" y="4498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Moyenne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64592" y="4709160"/>
            <a:ext cx="8814816" cy="32004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727448"/>
            <a:ext cx="8631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</a:t>
            </a:r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https://github.com/R5FR/cat-emotions-classificator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Classificateur d'Emissions Felinas</dc:title>
  <dc:subject>PptxGenJS Presentation</dc:subject>
  <dc:creator>Projet Data 2026</dc:creator>
  <cp:lastModifiedBy>Projet Data 2026</cp:lastModifiedBy>
  <cp:revision>1</cp:revision>
  <dcterms:created xsi:type="dcterms:W3CDTF">2026-03-27T11:40:40Z</dcterms:created>
  <dcterms:modified xsi:type="dcterms:W3CDTF">2026-03-27T11:40:40Z</dcterms:modified>
</cp:coreProperties>
</file>